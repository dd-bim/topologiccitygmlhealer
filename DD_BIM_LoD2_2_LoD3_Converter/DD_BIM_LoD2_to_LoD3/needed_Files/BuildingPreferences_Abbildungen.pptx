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3" r:id="rId5"/>
    <p:sldId id="261" r:id="rId6"/>
    <p:sldId id="262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D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33E7B-28C6-42E1-B1BF-6DB27AE8843E}" type="datetimeFigureOut">
              <a:rPr lang="de-DE" smtClean="0"/>
              <a:t>16.10.2025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7B40F-0018-42BB-8DE9-F0008B5155F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4355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33E7B-28C6-42E1-B1BF-6DB27AE8843E}" type="datetimeFigureOut">
              <a:rPr lang="de-DE" smtClean="0"/>
              <a:t>16.10.2025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7B40F-0018-42BB-8DE9-F0008B5155F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6121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33E7B-28C6-42E1-B1BF-6DB27AE8843E}" type="datetimeFigureOut">
              <a:rPr lang="de-DE" smtClean="0"/>
              <a:t>16.10.2025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7B40F-0018-42BB-8DE9-F0008B5155F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4579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33E7B-28C6-42E1-B1BF-6DB27AE8843E}" type="datetimeFigureOut">
              <a:rPr lang="de-DE" smtClean="0"/>
              <a:t>16.10.2025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7B40F-0018-42BB-8DE9-F0008B5155F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3623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33E7B-28C6-42E1-B1BF-6DB27AE8843E}" type="datetimeFigureOut">
              <a:rPr lang="de-DE" smtClean="0"/>
              <a:t>16.10.2025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7B40F-0018-42BB-8DE9-F0008B5155F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4151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33E7B-28C6-42E1-B1BF-6DB27AE8843E}" type="datetimeFigureOut">
              <a:rPr lang="de-DE" smtClean="0"/>
              <a:t>16.10.2025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7B40F-0018-42BB-8DE9-F0008B5155F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0086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33E7B-28C6-42E1-B1BF-6DB27AE8843E}" type="datetimeFigureOut">
              <a:rPr lang="de-DE" smtClean="0"/>
              <a:t>16.10.2025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7B40F-0018-42BB-8DE9-F0008B5155F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6007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33E7B-28C6-42E1-B1BF-6DB27AE8843E}" type="datetimeFigureOut">
              <a:rPr lang="de-DE" smtClean="0"/>
              <a:t>16.10.2025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7B40F-0018-42BB-8DE9-F0008B5155F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8026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33E7B-28C6-42E1-B1BF-6DB27AE8843E}" type="datetimeFigureOut">
              <a:rPr lang="de-DE" smtClean="0"/>
              <a:t>16.10.2025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7B40F-0018-42BB-8DE9-F0008B5155F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5149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33E7B-28C6-42E1-B1BF-6DB27AE8843E}" type="datetimeFigureOut">
              <a:rPr lang="de-DE" smtClean="0"/>
              <a:t>16.10.2025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7B40F-0018-42BB-8DE9-F0008B5155F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1958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33E7B-28C6-42E1-B1BF-6DB27AE8843E}" type="datetimeFigureOut">
              <a:rPr lang="de-DE" smtClean="0"/>
              <a:t>16.10.2025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7B40F-0018-42BB-8DE9-F0008B5155F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088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E33E7B-28C6-42E1-B1BF-6DB27AE8843E}" type="datetimeFigureOut">
              <a:rPr lang="de-DE" smtClean="0"/>
              <a:t>16.10.2025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D7B40F-0018-42BB-8DE9-F0008B5155F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8685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839581" y="556953"/>
            <a:ext cx="3773981" cy="560277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Dach</a:t>
            </a:r>
          </a:p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&amp;</a:t>
            </a:r>
          </a:p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Boden</a:t>
            </a:r>
          </a:p>
          <a:p>
            <a:pPr algn="ctr"/>
            <a:endParaRPr lang="de-DE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IW = 1</a:t>
            </a:r>
          </a:p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WP = 1</a:t>
            </a:r>
          </a:p>
        </p:txBody>
      </p:sp>
      <p:sp>
        <p:nvSpPr>
          <p:cNvPr id="5" name="Rechteck 4"/>
          <p:cNvSpPr/>
          <p:nvPr/>
        </p:nvSpPr>
        <p:spPr>
          <a:xfrm>
            <a:off x="4613564" y="5187141"/>
            <a:ext cx="6841372" cy="9725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76200"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Wände &lt; 1m</a:t>
            </a:r>
          </a:p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IW = 1	WP = 1</a:t>
            </a:r>
          </a:p>
        </p:txBody>
      </p:sp>
      <p:sp>
        <p:nvSpPr>
          <p:cNvPr id="9" name="Rechteck 8"/>
          <p:cNvSpPr/>
          <p:nvPr/>
        </p:nvSpPr>
        <p:spPr>
          <a:xfrm>
            <a:off x="4613564" y="556953"/>
            <a:ext cx="4463932" cy="463018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76200"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Außenwände</a:t>
            </a:r>
          </a:p>
          <a:p>
            <a:pPr algn="ctr"/>
            <a:r>
              <a:rPr lang="de-DE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 1m</a:t>
            </a:r>
          </a:p>
          <a:p>
            <a:pPr algn="ctr"/>
            <a:endParaRPr lang="de-DE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IW = 1</a:t>
            </a:r>
          </a:p>
          <a:p>
            <a:pPr algn="ctr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WP = 1</a:t>
            </a:r>
          </a:p>
        </p:txBody>
      </p:sp>
      <p:sp>
        <p:nvSpPr>
          <p:cNvPr id="10" name="Rechteck 9"/>
          <p:cNvSpPr/>
          <p:nvPr/>
        </p:nvSpPr>
        <p:spPr>
          <a:xfrm>
            <a:off x="9077498" y="2493818"/>
            <a:ext cx="2377436" cy="2693323"/>
          </a:xfrm>
          <a:prstGeom prst="rect">
            <a:avLst/>
          </a:prstGeom>
          <a:solidFill>
            <a:schemeClr val="accent2"/>
          </a:solidFill>
          <a:ln w="76200"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/>
              <a:t>Innenwände</a:t>
            </a:r>
          </a:p>
          <a:p>
            <a:pPr algn="ctr"/>
            <a:r>
              <a:rPr lang="de-DE" sz="2800" b="1" dirty="0"/>
              <a:t>ohne Fenster</a:t>
            </a:r>
          </a:p>
          <a:p>
            <a:pPr algn="ctr"/>
            <a:endParaRPr lang="de-DE" sz="2000" b="1" dirty="0"/>
          </a:p>
          <a:p>
            <a:pPr algn="ctr"/>
            <a:r>
              <a:rPr lang="de-DE" dirty="0"/>
              <a:t>IW = 0</a:t>
            </a:r>
          </a:p>
          <a:p>
            <a:pPr algn="ctr"/>
            <a:r>
              <a:rPr lang="de-DE" dirty="0"/>
              <a:t>WP = 0</a:t>
            </a:r>
          </a:p>
        </p:txBody>
      </p:sp>
      <p:sp>
        <p:nvSpPr>
          <p:cNvPr id="11" name="Rechteck 10"/>
          <p:cNvSpPr/>
          <p:nvPr/>
        </p:nvSpPr>
        <p:spPr>
          <a:xfrm>
            <a:off x="9077498" y="556953"/>
            <a:ext cx="2377436" cy="193686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/>
              <a:t>Innenwände</a:t>
            </a:r>
          </a:p>
          <a:p>
            <a:pPr algn="ctr"/>
            <a:r>
              <a:rPr lang="de-DE" sz="2800" b="1" dirty="0"/>
              <a:t>mit Fenstern</a:t>
            </a:r>
          </a:p>
          <a:p>
            <a:pPr algn="ctr"/>
            <a:endParaRPr lang="de-DE" sz="2000" b="1" dirty="0"/>
          </a:p>
          <a:p>
            <a:pPr algn="ctr"/>
            <a:r>
              <a:rPr lang="de-DE" dirty="0"/>
              <a:t>IW = 0</a:t>
            </a:r>
          </a:p>
          <a:p>
            <a:pPr algn="ctr"/>
            <a:r>
              <a:rPr lang="de-DE" dirty="0"/>
              <a:t>WP = 2</a:t>
            </a:r>
          </a:p>
        </p:txBody>
      </p:sp>
    </p:spTree>
    <p:extLst>
      <p:ext uri="{BB962C8B-B14F-4D97-AF65-F5344CB8AC3E}">
        <p14:creationId xmlns:p14="http://schemas.microsoft.com/office/powerpoint/2010/main" val="3970267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/>
        </p:nvSpPr>
        <p:spPr>
          <a:xfrm>
            <a:off x="7780713" y="3582786"/>
            <a:ext cx="2377436" cy="1936865"/>
          </a:xfrm>
          <a:prstGeom prst="rect">
            <a:avLst/>
          </a:prstGeom>
          <a:solidFill>
            <a:schemeClr val="accent1"/>
          </a:solidFill>
          <a:ln w="76200"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b="1" dirty="0">
                <a:solidFill>
                  <a:schemeClr val="bg1"/>
                </a:solidFill>
              </a:rPr>
              <a:t>Wände mit </a:t>
            </a:r>
          </a:p>
          <a:p>
            <a:pPr algn="ctr"/>
            <a:r>
              <a:rPr lang="de-DE" sz="2400" b="1" dirty="0">
                <a:solidFill>
                  <a:schemeClr val="bg1"/>
                </a:solidFill>
              </a:rPr>
              <a:t>Hintereingängen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DoorCount = -1</a:t>
            </a:r>
          </a:p>
        </p:txBody>
      </p:sp>
      <p:sp>
        <p:nvSpPr>
          <p:cNvPr id="10" name="Rechteck 9"/>
          <p:cNvSpPr/>
          <p:nvPr/>
        </p:nvSpPr>
        <p:spPr>
          <a:xfrm>
            <a:off x="7780713" y="2452254"/>
            <a:ext cx="2377436" cy="1130532"/>
          </a:xfrm>
          <a:prstGeom prst="rect">
            <a:avLst/>
          </a:prstGeom>
          <a:solidFill>
            <a:schemeClr val="accent2">
              <a:lumMod val="50000"/>
            </a:schemeClr>
          </a:solidFill>
          <a:ln w="76200"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b="1" dirty="0"/>
              <a:t>Wände mit mehreren Türen</a:t>
            </a:r>
          </a:p>
          <a:p>
            <a:pPr algn="ctr"/>
            <a:r>
              <a:rPr lang="de-DE" dirty="0"/>
              <a:t>DoorCount &gt; 1</a:t>
            </a:r>
          </a:p>
        </p:txBody>
      </p:sp>
      <p:sp>
        <p:nvSpPr>
          <p:cNvPr id="11" name="Rechteck 10"/>
          <p:cNvSpPr/>
          <p:nvPr/>
        </p:nvSpPr>
        <p:spPr>
          <a:xfrm>
            <a:off x="7780713" y="515388"/>
            <a:ext cx="2377436" cy="1936865"/>
          </a:xfrm>
          <a:prstGeom prst="rect">
            <a:avLst/>
          </a:prstGeom>
          <a:solidFill>
            <a:schemeClr val="accent2"/>
          </a:solidFill>
          <a:ln w="76200"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b="1" dirty="0"/>
              <a:t>Wände mit </a:t>
            </a:r>
          </a:p>
          <a:p>
            <a:pPr algn="ctr"/>
            <a:r>
              <a:rPr lang="de-DE" sz="2400" b="1" dirty="0"/>
              <a:t>1 Tür</a:t>
            </a:r>
          </a:p>
          <a:p>
            <a:pPr algn="ctr"/>
            <a:r>
              <a:rPr lang="de-DE" dirty="0"/>
              <a:t>DoorCount = 1</a:t>
            </a:r>
          </a:p>
        </p:txBody>
      </p:sp>
      <p:sp>
        <p:nvSpPr>
          <p:cNvPr id="7" name="Rechteck 6"/>
          <p:cNvSpPr/>
          <p:nvPr/>
        </p:nvSpPr>
        <p:spPr>
          <a:xfrm>
            <a:off x="5403276" y="515388"/>
            <a:ext cx="2377436" cy="5004263"/>
          </a:xfrm>
          <a:prstGeom prst="rect">
            <a:avLst/>
          </a:prstGeom>
          <a:solidFill>
            <a:schemeClr val="bg1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b="1" dirty="0">
                <a:solidFill>
                  <a:schemeClr val="tx1"/>
                </a:solidFill>
              </a:rPr>
              <a:t>geeignete</a:t>
            </a:r>
          </a:p>
          <a:p>
            <a:pPr algn="ctr"/>
            <a:r>
              <a:rPr lang="de-DE" sz="2400" b="1" dirty="0">
                <a:solidFill>
                  <a:schemeClr val="tx1"/>
                </a:solidFill>
              </a:rPr>
              <a:t>Wände</a:t>
            </a:r>
          </a:p>
          <a:p>
            <a:pPr algn="ctr"/>
            <a:endParaRPr lang="de-DE" sz="2400" b="1" dirty="0">
              <a:solidFill>
                <a:schemeClr val="tx1"/>
              </a:solidFill>
            </a:endParaRPr>
          </a:p>
          <a:p>
            <a:pPr algn="ctr"/>
            <a:r>
              <a:rPr lang="de-DE" dirty="0">
                <a:solidFill>
                  <a:schemeClr val="tx1"/>
                </a:solidFill>
              </a:rPr>
              <a:t>DoorCount = 0</a:t>
            </a:r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8" name="Rechteck 7"/>
          <p:cNvSpPr/>
          <p:nvPr/>
        </p:nvSpPr>
        <p:spPr>
          <a:xfrm>
            <a:off x="1579416" y="515388"/>
            <a:ext cx="3823859" cy="2294312"/>
          </a:xfrm>
          <a:prstGeom prst="rect">
            <a:avLst/>
          </a:prstGeom>
          <a:solidFill>
            <a:schemeClr val="bg1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b="1" dirty="0">
                <a:solidFill>
                  <a:schemeClr val="tx1"/>
                </a:solidFill>
              </a:rPr>
              <a:t>Dach- und</a:t>
            </a:r>
          </a:p>
          <a:p>
            <a:pPr algn="ctr"/>
            <a:r>
              <a:rPr lang="de-DE" sz="2400" b="1" dirty="0">
                <a:solidFill>
                  <a:schemeClr val="tx1"/>
                </a:solidFill>
              </a:rPr>
              <a:t>Bodenelemente</a:t>
            </a:r>
          </a:p>
          <a:p>
            <a:pPr algn="ctr"/>
            <a:endParaRPr lang="de-DE" sz="2400" b="1" dirty="0">
              <a:solidFill>
                <a:schemeClr val="tx1"/>
              </a:solidFill>
            </a:endParaRPr>
          </a:p>
          <a:p>
            <a:pPr algn="ctr"/>
            <a:r>
              <a:rPr lang="de-DE" dirty="0">
                <a:solidFill>
                  <a:schemeClr val="tx1"/>
                </a:solidFill>
              </a:rPr>
              <a:t>DoorCount = 0</a:t>
            </a:r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12" name="Rechteck 11"/>
          <p:cNvSpPr/>
          <p:nvPr/>
        </p:nvSpPr>
        <p:spPr>
          <a:xfrm>
            <a:off x="1579415" y="2809700"/>
            <a:ext cx="3823859" cy="2709951"/>
          </a:xfrm>
          <a:prstGeom prst="rect">
            <a:avLst/>
          </a:prstGeom>
          <a:solidFill>
            <a:schemeClr val="bg1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b="1" dirty="0">
                <a:solidFill>
                  <a:schemeClr val="tx1"/>
                </a:solidFill>
              </a:rPr>
              <a:t>Innenwände</a:t>
            </a:r>
          </a:p>
          <a:p>
            <a:pPr algn="ctr"/>
            <a:r>
              <a:rPr lang="de-DE" sz="2400" b="1" dirty="0">
                <a:solidFill>
                  <a:schemeClr val="tx1"/>
                </a:solidFill>
              </a:rPr>
              <a:t>zu kleine Wände</a:t>
            </a:r>
          </a:p>
          <a:p>
            <a:pPr algn="ctr"/>
            <a:r>
              <a:rPr lang="de-DE" sz="2400" b="1" dirty="0">
                <a:solidFill>
                  <a:schemeClr val="tx1"/>
                </a:solidFill>
              </a:rPr>
              <a:t>Wände im Obergeschoss</a:t>
            </a:r>
          </a:p>
          <a:p>
            <a:pPr algn="ctr"/>
            <a:endParaRPr lang="de-DE" sz="2400" b="1" dirty="0">
              <a:solidFill>
                <a:schemeClr val="tx1"/>
              </a:solidFill>
            </a:endParaRPr>
          </a:p>
          <a:p>
            <a:pPr algn="ctr"/>
            <a:r>
              <a:rPr lang="de-DE" dirty="0">
                <a:solidFill>
                  <a:schemeClr val="tx1"/>
                </a:solidFill>
              </a:rPr>
              <a:t>DoorCount = 0</a:t>
            </a:r>
            <a:endParaRPr lang="de-DE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2969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Abgerundetes Rechteck 129"/>
          <p:cNvSpPr/>
          <p:nvPr/>
        </p:nvSpPr>
        <p:spPr>
          <a:xfrm>
            <a:off x="5270644" y="923746"/>
            <a:ext cx="563942" cy="271174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9" name="Abgerundetes Rechteck 128"/>
          <p:cNvSpPr/>
          <p:nvPr/>
        </p:nvSpPr>
        <p:spPr>
          <a:xfrm>
            <a:off x="5533944" y="925170"/>
            <a:ext cx="522670" cy="188524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7" name="Abgerundetes Rechteck 126"/>
          <p:cNvSpPr/>
          <p:nvPr/>
        </p:nvSpPr>
        <p:spPr>
          <a:xfrm>
            <a:off x="2350892" y="3635492"/>
            <a:ext cx="2846169" cy="58665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4" name="Abgerundetes Rechteck 123"/>
          <p:cNvSpPr/>
          <p:nvPr/>
        </p:nvSpPr>
        <p:spPr>
          <a:xfrm>
            <a:off x="6206273" y="514200"/>
            <a:ext cx="3991967" cy="413994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5" name="Abgerundetes Rechteck 124"/>
          <p:cNvSpPr/>
          <p:nvPr/>
        </p:nvSpPr>
        <p:spPr>
          <a:xfrm>
            <a:off x="6169598" y="2777138"/>
            <a:ext cx="3991967" cy="413994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2" name="Abgerundetes Rechteck 121"/>
          <p:cNvSpPr/>
          <p:nvPr/>
        </p:nvSpPr>
        <p:spPr>
          <a:xfrm>
            <a:off x="2324710" y="5998537"/>
            <a:ext cx="2846169" cy="413994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3" name="Abgerundetes Rechteck 122"/>
          <p:cNvSpPr/>
          <p:nvPr/>
        </p:nvSpPr>
        <p:spPr>
          <a:xfrm>
            <a:off x="2352763" y="514200"/>
            <a:ext cx="2846169" cy="413994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8" name="Abgerundetes Rechteck 117"/>
          <p:cNvSpPr/>
          <p:nvPr/>
        </p:nvSpPr>
        <p:spPr>
          <a:xfrm>
            <a:off x="10346920" y="912201"/>
            <a:ext cx="444186" cy="1869312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9" name="Abgerundetes Rechteck 118"/>
          <p:cNvSpPr/>
          <p:nvPr/>
        </p:nvSpPr>
        <p:spPr>
          <a:xfrm>
            <a:off x="5394997" y="4249325"/>
            <a:ext cx="444186" cy="1749213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1" name="Abgerundetes Rechteck 120"/>
          <p:cNvSpPr/>
          <p:nvPr/>
        </p:nvSpPr>
        <p:spPr>
          <a:xfrm>
            <a:off x="1709076" y="4249324"/>
            <a:ext cx="444186" cy="1749213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7" name="Abgerundetes Rechteck 116"/>
          <p:cNvSpPr/>
          <p:nvPr/>
        </p:nvSpPr>
        <p:spPr>
          <a:xfrm>
            <a:off x="1709076" y="912201"/>
            <a:ext cx="444186" cy="2761454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/>
          <p:cNvSpPr/>
          <p:nvPr/>
        </p:nvSpPr>
        <p:spPr>
          <a:xfrm>
            <a:off x="1862050" y="631766"/>
            <a:ext cx="3823855" cy="3300154"/>
          </a:xfrm>
          <a:prstGeom prst="rect">
            <a:avLst/>
          </a:prstGeom>
          <a:noFill/>
          <a:ln w="5715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3" name="Abgerundetes Rechteck 132"/>
          <p:cNvSpPr/>
          <p:nvPr/>
        </p:nvSpPr>
        <p:spPr>
          <a:xfrm>
            <a:off x="2358529" y="3787184"/>
            <a:ext cx="2838531" cy="289851"/>
          </a:xfrm>
          <a:prstGeom prst="roundRect">
            <a:avLst/>
          </a:prstGeom>
          <a:solidFill>
            <a:srgbClr val="DF7F7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2" name="Abgerundetes Rechteck 131"/>
          <p:cNvSpPr/>
          <p:nvPr/>
        </p:nvSpPr>
        <p:spPr>
          <a:xfrm>
            <a:off x="5524493" y="923745"/>
            <a:ext cx="310092" cy="1885241"/>
          </a:xfrm>
          <a:prstGeom prst="roundRect">
            <a:avLst/>
          </a:prstGeom>
          <a:solidFill>
            <a:srgbClr val="DF7F7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/>
          <p:cNvSpPr/>
          <p:nvPr/>
        </p:nvSpPr>
        <p:spPr>
          <a:xfrm>
            <a:off x="5685905" y="631765"/>
            <a:ext cx="4971011" cy="2419005"/>
          </a:xfrm>
          <a:prstGeom prst="rect">
            <a:avLst/>
          </a:prstGeom>
          <a:noFill/>
          <a:ln w="5715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/>
          <p:cNvSpPr/>
          <p:nvPr/>
        </p:nvSpPr>
        <p:spPr>
          <a:xfrm>
            <a:off x="1862049" y="3931920"/>
            <a:ext cx="3823856" cy="2335875"/>
          </a:xfrm>
          <a:prstGeom prst="rect">
            <a:avLst/>
          </a:prstGeom>
          <a:noFill/>
          <a:ln w="5715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7" name="Rechteck 76"/>
          <p:cNvSpPr/>
          <p:nvPr/>
        </p:nvSpPr>
        <p:spPr>
          <a:xfrm>
            <a:off x="6719771" y="5117797"/>
            <a:ext cx="1054342" cy="32280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8" name="Rechteck 77"/>
          <p:cNvSpPr/>
          <p:nvPr/>
        </p:nvSpPr>
        <p:spPr>
          <a:xfrm>
            <a:off x="6719771" y="6212507"/>
            <a:ext cx="1054342" cy="30536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9" name="Rechteck 78"/>
          <p:cNvSpPr/>
          <p:nvPr/>
        </p:nvSpPr>
        <p:spPr>
          <a:xfrm>
            <a:off x="6719771" y="5664581"/>
            <a:ext cx="1054342" cy="323950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0" name="Rechteck 79"/>
          <p:cNvSpPr/>
          <p:nvPr/>
        </p:nvSpPr>
        <p:spPr>
          <a:xfrm>
            <a:off x="6719771" y="4576621"/>
            <a:ext cx="1054342" cy="322808"/>
          </a:xfrm>
          <a:prstGeom prst="rect">
            <a:avLst/>
          </a:prstGeom>
          <a:noFill/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1" name="Textfeld 80"/>
          <p:cNvSpPr txBox="1"/>
          <p:nvPr/>
        </p:nvSpPr>
        <p:spPr>
          <a:xfrm>
            <a:off x="8016708" y="4547179"/>
            <a:ext cx="3340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Eingekürzte Wandelemente</a:t>
            </a:r>
          </a:p>
        </p:txBody>
      </p:sp>
      <p:sp>
        <p:nvSpPr>
          <p:cNvPr id="82" name="Textfeld 81"/>
          <p:cNvSpPr txBox="1"/>
          <p:nvPr/>
        </p:nvSpPr>
        <p:spPr>
          <a:xfrm>
            <a:off x="8016707" y="4956035"/>
            <a:ext cx="33403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Wandelemente ohne Nachbar</a:t>
            </a:r>
          </a:p>
          <a:p>
            <a:r>
              <a:rPr lang="de-DE" dirty="0"/>
              <a:t>= Außenwände</a:t>
            </a:r>
          </a:p>
        </p:txBody>
      </p:sp>
      <p:sp>
        <p:nvSpPr>
          <p:cNvPr id="83" name="Textfeld 82"/>
          <p:cNvSpPr txBox="1"/>
          <p:nvPr/>
        </p:nvSpPr>
        <p:spPr>
          <a:xfrm>
            <a:off x="8016706" y="6042022"/>
            <a:ext cx="33403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Wandelemente mit Nachbar</a:t>
            </a:r>
          </a:p>
          <a:p>
            <a:r>
              <a:rPr lang="de-DE" dirty="0"/>
              <a:t>= Innenwände</a:t>
            </a:r>
          </a:p>
        </p:txBody>
      </p:sp>
      <p:sp>
        <p:nvSpPr>
          <p:cNvPr id="84" name="Textfeld 83"/>
          <p:cNvSpPr txBox="1"/>
          <p:nvPr/>
        </p:nvSpPr>
        <p:spPr>
          <a:xfrm>
            <a:off x="8016705" y="5641890"/>
            <a:ext cx="3582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Überschneidung der Nachbarschaft</a:t>
            </a:r>
          </a:p>
        </p:txBody>
      </p:sp>
      <p:sp>
        <p:nvSpPr>
          <p:cNvPr id="90" name="Textfeld 89"/>
          <p:cNvSpPr txBox="1"/>
          <p:nvPr/>
        </p:nvSpPr>
        <p:spPr>
          <a:xfrm>
            <a:off x="6363450" y="5104690"/>
            <a:ext cx="519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</a:t>
            </a:r>
          </a:p>
        </p:txBody>
      </p:sp>
      <p:sp>
        <p:nvSpPr>
          <p:cNvPr id="91" name="Textfeld 90"/>
          <p:cNvSpPr txBox="1"/>
          <p:nvPr/>
        </p:nvSpPr>
        <p:spPr>
          <a:xfrm>
            <a:off x="6352819" y="6190677"/>
            <a:ext cx="519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0</a:t>
            </a:r>
          </a:p>
        </p:txBody>
      </p:sp>
      <p:cxnSp>
        <p:nvCxnSpPr>
          <p:cNvPr id="97" name="Gerader Verbinder 96"/>
          <p:cNvCxnSpPr/>
          <p:nvPr/>
        </p:nvCxnSpPr>
        <p:spPr>
          <a:xfrm>
            <a:off x="6391469" y="631765"/>
            <a:ext cx="3564294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Gerader Verbinder 99"/>
          <p:cNvCxnSpPr/>
          <p:nvPr/>
        </p:nvCxnSpPr>
        <p:spPr>
          <a:xfrm>
            <a:off x="6391469" y="3050770"/>
            <a:ext cx="3564294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Gerader Verbinder 100"/>
          <p:cNvCxnSpPr/>
          <p:nvPr/>
        </p:nvCxnSpPr>
        <p:spPr>
          <a:xfrm>
            <a:off x="2550367" y="631765"/>
            <a:ext cx="239485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Gerader Verbinder 103"/>
          <p:cNvCxnSpPr/>
          <p:nvPr/>
        </p:nvCxnSpPr>
        <p:spPr>
          <a:xfrm>
            <a:off x="2550367" y="6267795"/>
            <a:ext cx="239485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Gerader Verbinder 104"/>
          <p:cNvCxnSpPr/>
          <p:nvPr/>
        </p:nvCxnSpPr>
        <p:spPr>
          <a:xfrm>
            <a:off x="1862049" y="1082745"/>
            <a:ext cx="0" cy="240690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Gerader Verbinder 106"/>
          <p:cNvCxnSpPr/>
          <p:nvPr/>
        </p:nvCxnSpPr>
        <p:spPr>
          <a:xfrm>
            <a:off x="5685905" y="1082745"/>
            <a:ext cx="0" cy="240690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Gerader Verbinder 107"/>
          <p:cNvCxnSpPr/>
          <p:nvPr/>
        </p:nvCxnSpPr>
        <p:spPr>
          <a:xfrm>
            <a:off x="10656916" y="1082745"/>
            <a:ext cx="0" cy="157647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Gerader Verbinder 109"/>
          <p:cNvCxnSpPr/>
          <p:nvPr/>
        </p:nvCxnSpPr>
        <p:spPr>
          <a:xfrm>
            <a:off x="5685905" y="4430005"/>
            <a:ext cx="0" cy="141095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Gerader Verbinder 112"/>
          <p:cNvCxnSpPr/>
          <p:nvPr/>
        </p:nvCxnSpPr>
        <p:spPr>
          <a:xfrm>
            <a:off x="1862049" y="4455515"/>
            <a:ext cx="0" cy="141095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" name="Rechteck 114"/>
          <p:cNvSpPr/>
          <p:nvPr/>
        </p:nvSpPr>
        <p:spPr>
          <a:xfrm>
            <a:off x="6719771" y="4060747"/>
            <a:ext cx="1054342" cy="322808"/>
          </a:xfrm>
          <a:prstGeom prst="rect">
            <a:avLst/>
          </a:prstGeom>
          <a:noFill/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6" name="Textfeld 115"/>
          <p:cNvSpPr txBox="1"/>
          <p:nvPr/>
        </p:nvSpPr>
        <p:spPr>
          <a:xfrm>
            <a:off x="8059332" y="4037485"/>
            <a:ext cx="3340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Footprint der Wandelemente</a:t>
            </a:r>
          </a:p>
        </p:txBody>
      </p:sp>
      <p:cxnSp>
        <p:nvCxnSpPr>
          <p:cNvPr id="128" name="Gerader Verbinder 127"/>
          <p:cNvCxnSpPr/>
          <p:nvPr/>
        </p:nvCxnSpPr>
        <p:spPr>
          <a:xfrm>
            <a:off x="2550367" y="3931920"/>
            <a:ext cx="239485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B022895E-3EF9-6EB1-89FB-DCECA22650A9}"/>
              </a:ext>
            </a:extLst>
          </p:cNvPr>
          <p:cNvSpPr txBox="1"/>
          <p:nvPr/>
        </p:nvSpPr>
        <p:spPr>
          <a:xfrm>
            <a:off x="6352819" y="3492308"/>
            <a:ext cx="28263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Innenwand</a:t>
            </a:r>
            <a:endParaRPr lang="de-DE" b="1" dirty="0"/>
          </a:p>
        </p:txBody>
      </p:sp>
    </p:spTree>
    <p:extLst>
      <p:ext uri="{BB962C8B-B14F-4D97-AF65-F5344CB8AC3E}">
        <p14:creationId xmlns:p14="http://schemas.microsoft.com/office/powerpoint/2010/main" val="1811776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hteck 39"/>
          <p:cNvSpPr/>
          <p:nvPr/>
        </p:nvSpPr>
        <p:spPr>
          <a:xfrm>
            <a:off x="871714" y="6200113"/>
            <a:ext cx="939635" cy="1949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Cube 3"/>
          <p:cNvSpPr/>
          <p:nvPr/>
        </p:nvSpPr>
        <p:spPr>
          <a:xfrm>
            <a:off x="6928408" y="508137"/>
            <a:ext cx="3272929" cy="2714267"/>
          </a:xfrm>
          <a:prstGeom prst="cub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/>
          <p:cNvSpPr/>
          <p:nvPr/>
        </p:nvSpPr>
        <p:spPr>
          <a:xfrm>
            <a:off x="6704527" y="1383417"/>
            <a:ext cx="2619732" cy="203709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/>
          <p:cNvSpPr/>
          <p:nvPr/>
        </p:nvSpPr>
        <p:spPr>
          <a:xfrm>
            <a:off x="6511987" y="2823064"/>
            <a:ext cx="1459280" cy="798680"/>
          </a:xfrm>
          <a:prstGeom prst="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Cube 4"/>
          <p:cNvSpPr/>
          <p:nvPr/>
        </p:nvSpPr>
        <p:spPr>
          <a:xfrm>
            <a:off x="6054172" y="2999411"/>
            <a:ext cx="1693214" cy="1061163"/>
          </a:xfrm>
          <a:prstGeom prst="cub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Cube 6"/>
          <p:cNvSpPr/>
          <p:nvPr/>
        </p:nvSpPr>
        <p:spPr>
          <a:xfrm>
            <a:off x="1549008" y="505455"/>
            <a:ext cx="3440305" cy="2362062"/>
          </a:xfrm>
          <a:prstGeom prst="cub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/>
          <p:cNvSpPr/>
          <p:nvPr/>
        </p:nvSpPr>
        <p:spPr>
          <a:xfrm>
            <a:off x="1445011" y="1270862"/>
            <a:ext cx="2753704" cy="1890910"/>
          </a:xfrm>
          <a:prstGeom prst="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/>
          <p:cNvSpPr/>
          <p:nvPr/>
        </p:nvSpPr>
        <p:spPr>
          <a:xfrm>
            <a:off x="1266390" y="1719689"/>
            <a:ext cx="2218416" cy="1604778"/>
          </a:xfrm>
          <a:prstGeom prst="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Cube 8"/>
          <p:cNvSpPr/>
          <p:nvPr/>
        </p:nvSpPr>
        <p:spPr>
          <a:xfrm>
            <a:off x="567933" y="1899287"/>
            <a:ext cx="2737204" cy="2027892"/>
          </a:xfrm>
          <a:prstGeom prst="cub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Cube 9"/>
          <p:cNvSpPr/>
          <p:nvPr/>
        </p:nvSpPr>
        <p:spPr>
          <a:xfrm>
            <a:off x="871717" y="4711370"/>
            <a:ext cx="1043091" cy="485581"/>
          </a:xfrm>
          <a:prstGeom prst="cub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/>
          <p:cNvSpPr/>
          <p:nvPr/>
        </p:nvSpPr>
        <p:spPr>
          <a:xfrm>
            <a:off x="871715" y="5967604"/>
            <a:ext cx="939635" cy="23250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/>
          <p:cNvSpPr/>
          <p:nvPr/>
        </p:nvSpPr>
        <p:spPr>
          <a:xfrm>
            <a:off x="871717" y="5368549"/>
            <a:ext cx="939634" cy="427457"/>
          </a:xfrm>
          <a:prstGeom prst="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/>
          <p:cNvSpPr txBox="1"/>
          <p:nvPr/>
        </p:nvSpPr>
        <p:spPr>
          <a:xfrm>
            <a:off x="2138689" y="4769494"/>
            <a:ext cx="2826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Fenster möglich</a:t>
            </a:r>
          </a:p>
        </p:txBody>
      </p:sp>
      <p:sp>
        <p:nvSpPr>
          <p:cNvPr id="16" name="Textfeld 15"/>
          <p:cNvSpPr txBox="1"/>
          <p:nvPr/>
        </p:nvSpPr>
        <p:spPr>
          <a:xfrm>
            <a:off x="2138689" y="5368549"/>
            <a:ext cx="2759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keine Fenster</a:t>
            </a:r>
          </a:p>
        </p:txBody>
      </p:sp>
      <p:sp>
        <p:nvSpPr>
          <p:cNvPr id="17" name="Textfeld 16"/>
          <p:cNvSpPr txBox="1"/>
          <p:nvPr/>
        </p:nvSpPr>
        <p:spPr>
          <a:xfrm>
            <a:off x="2138689" y="5858166"/>
            <a:ext cx="29082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Fenster ab bestimmter Wandhöhe möglich</a:t>
            </a:r>
          </a:p>
        </p:txBody>
      </p:sp>
      <p:sp>
        <p:nvSpPr>
          <p:cNvPr id="18" name="Textfeld 17"/>
          <p:cNvSpPr txBox="1"/>
          <p:nvPr/>
        </p:nvSpPr>
        <p:spPr>
          <a:xfrm>
            <a:off x="267880" y="4769494"/>
            <a:ext cx="491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1</a:t>
            </a:r>
          </a:p>
        </p:txBody>
      </p:sp>
      <p:sp>
        <p:nvSpPr>
          <p:cNvPr id="19" name="Textfeld 18"/>
          <p:cNvSpPr txBox="1"/>
          <p:nvPr/>
        </p:nvSpPr>
        <p:spPr>
          <a:xfrm>
            <a:off x="267880" y="5368549"/>
            <a:ext cx="491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0</a:t>
            </a:r>
          </a:p>
        </p:txBody>
      </p:sp>
      <p:sp>
        <p:nvSpPr>
          <p:cNvPr id="20" name="Textfeld 19"/>
          <p:cNvSpPr txBox="1"/>
          <p:nvPr/>
        </p:nvSpPr>
        <p:spPr>
          <a:xfrm>
            <a:off x="267880" y="5967604"/>
            <a:ext cx="491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2</a:t>
            </a:r>
          </a:p>
        </p:txBody>
      </p:sp>
      <p:sp>
        <p:nvSpPr>
          <p:cNvPr id="21" name="Rechteck 20"/>
          <p:cNvSpPr/>
          <p:nvPr/>
        </p:nvSpPr>
        <p:spPr>
          <a:xfrm>
            <a:off x="7292464" y="4615618"/>
            <a:ext cx="2257620" cy="162556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Geschweifte Klammer links 24"/>
          <p:cNvSpPr/>
          <p:nvPr/>
        </p:nvSpPr>
        <p:spPr>
          <a:xfrm>
            <a:off x="6823601" y="4615617"/>
            <a:ext cx="468862" cy="1054999"/>
          </a:xfrm>
          <a:prstGeom prst="leftBrace">
            <a:avLst>
              <a:gd name="adj1" fmla="val 17911"/>
              <a:gd name="adj2" fmla="val 46474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Textfeld 26"/>
          <p:cNvSpPr txBox="1"/>
          <p:nvPr/>
        </p:nvSpPr>
        <p:spPr>
          <a:xfrm>
            <a:off x="5328274" y="4903465"/>
            <a:ext cx="1391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b="1" dirty="0" err="1"/>
              <a:t>Z_Differenz</a:t>
            </a:r>
            <a:endParaRPr lang="de-DE" b="1" dirty="0"/>
          </a:p>
        </p:txBody>
      </p:sp>
      <p:sp>
        <p:nvSpPr>
          <p:cNvPr id="28" name="Textfeld 27"/>
          <p:cNvSpPr txBox="1"/>
          <p:nvPr/>
        </p:nvSpPr>
        <p:spPr>
          <a:xfrm>
            <a:off x="5327585" y="5746356"/>
            <a:ext cx="1391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b="1" dirty="0" err="1"/>
              <a:t>Z_Fenster</a:t>
            </a:r>
            <a:endParaRPr lang="de-DE" b="1" dirty="0"/>
          </a:p>
        </p:txBody>
      </p:sp>
      <p:sp>
        <p:nvSpPr>
          <p:cNvPr id="31" name="Rechteck 30"/>
          <p:cNvSpPr/>
          <p:nvPr/>
        </p:nvSpPr>
        <p:spPr>
          <a:xfrm>
            <a:off x="7292464" y="4615618"/>
            <a:ext cx="2257620" cy="1054998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/>
          <p:cNvSpPr/>
          <p:nvPr/>
        </p:nvSpPr>
        <p:spPr>
          <a:xfrm>
            <a:off x="8471524" y="5670617"/>
            <a:ext cx="1078560" cy="570567"/>
          </a:xfrm>
          <a:prstGeom prst="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Geschweifte Klammer links 33"/>
          <p:cNvSpPr/>
          <p:nvPr/>
        </p:nvSpPr>
        <p:spPr>
          <a:xfrm>
            <a:off x="6823600" y="5670617"/>
            <a:ext cx="468862" cy="570568"/>
          </a:xfrm>
          <a:prstGeom prst="leftBrace">
            <a:avLst>
              <a:gd name="adj1" fmla="val 11941"/>
              <a:gd name="adj2" fmla="val 5106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Rechteck 38"/>
          <p:cNvSpPr/>
          <p:nvPr/>
        </p:nvSpPr>
        <p:spPr>
          <a:xfrm>
            <a:off x="6704527" y="1383417"/>
            <a:ext cx="2619732" cy="1238412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2" name="Gerader Verbinder 41"/>
          <p:cNvCxnSpPr/>
          <p:nvPr/>
        </p:nvCxnSpPr>
        <p:spPr>
          <a:xfrm flipH="1">
            <a:off x="9550085" y="5670616"/>
            <a:ext cx="256389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Gerader Verbinder 42"/>
          <p:cNvCxnSpPr/>
          <p:nvPr/>
        </p:nvCxnSpPr>
        <p:spPr>
          <a:xfrm flipH="1">
            <a:off x="9550086" y="6241184"/>
            <a:ext cx="25638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feld 43"/>
          <p:cNvSpPr txBox="1"/>
          <p:nvPr/>
        </p:nvSpPr>
        <p:spPr>
          <a:xfrm>
            <a:off x="9806474" y="6055950"/>
            <a:ext cx="197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accent5"/>
                </a:solidFill>
              </a:rPr>
              <a:t>Z-Min-Abs</a:t>
            </a:r>
          </a:p>
        </p:txBody>
      </p:sp>
      <p:sp>
        <p:nvSpPr>
          <p:cNvPr id="45" name="Textfeld 44"/>
          <p:cNvSpPr txBox="1"/>
          <p:nvPr/>
        </p:nvSpPr>
        <p:spPr>
          <a:xfrm>
            <a:off x="9806474" y="5489486"/>
            <a:ext cx="2101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C00000"/>
                </a:solidFill>
              </a:rPr>
              <a:t>Z-Max-Abs-Nachbar</a:t>
            </a:r>
          </a:p>
        </p:txBody>
      </p:sp>
      <p:sp>
        <p:nvSpPr>
          <p:cNvPr id="67" name="Textfeld 66"/>
          <p:cNvSpPr txBox="1"/>
          <p:nvPr/>
        </p:nvSpPr>
        <p:spPr>
          <a:xfrm>
            <a:off x="9806474" y="4852890"/>
            <a:ext cx="2101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accent5"/>
                </a:solidFill>
              </a:rPr>
              <a:t>Z-Max</a:t>
            </a:r>
          </a:p>
        </p:txBody>
      </p:sp>
      <p:sp>
        <p:nvSpPr>
          <p:cNvPr id="68" name="Geschweifte Klammer rechts 67"/>
          <p:cNvSpPr/>
          <p:nvPr/>
        </p:nvSpPr>
        <p:spPr>
          <a:xfrm>
            <a:off x="9550084" y="4615617"/>
            <a:ext cx="256390" cy="1624999"/>
          </a:xfrm>
          <a:prstGeom prst="rightBrace">
            <a:avLst>
              <a:gd name="adj1" fmla="val 30168"/>
              <a:gd name="adj2" fmla="val 25884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B550F29-69B0-D469-4BF3-9E86549D4A2A}"/>
              </a:ext>
            </a:extLst>
          </p:cNvPr>
          <p:cNvSpPr txBox="1"/>
          <p:nvPr/>
        </p:nvSpPr>
        <p:spPr>
          <a:xfrm>
            <a:off x="267880" y="4215507"/>
            <a:ext cx="28263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WindowPreference</a:t>
            </a:r>
            <a:endParaRPr lang="de-DE" b="1" dirty="0"/>
          </a:p>
        </p:txBody>
      </p:sp>
    </p:spTree>
    <p:extLst>
      <p:ext uri="{BB962C8B-B14F-4D97-AF65-F5344CB8AC3E}">
        <p14:creationId xmlns:p14="http://schemas.microsoft.com/office/powerpoint/2010/main" val="1389331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2244437" y="831273"/>
            <a:ext cx="2543694" cy="2660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Rechteck 40"/>
          <p:cNvSpPr/>
          <p:nvPr/>
        </p:nvSpPr>
        <p:spPr>
          <a:xfrm>
            <a:off x="2244437" y="5577844"/>
            <a:ext cx="4164676" cy="2660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2" name="Rechteck 41"/>
          <p:cNvSpPr/>
          <p:nvPr/>
        </p:nvSpPr>
        <p:spPr>
          <a:xfrm>
            <a:off x="4788129" y="4123113"/>
            <a:ext cx="1620982" cy="26600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Rechteck 42"/>
          <p:cNvSpPr/>
          <p:nvPr/>
        </p:nvSpPr>
        <p:spPr>
          <a:xfrm rot="5400000">
            <a:off x="-128850" y="3204559"/>
            <a:ext cx="5012579" cy="26600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Rechteck 43"/>
          <p:cNvSpPr/>
          <p:nvPr/>
        </p:nvSpPr>
        <p:spPr>
          <a:xfrm rot="5400000">
            <a:off x="2876203" y="2477194"/>
            <a:ext cx="3557848" cy="26600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Rechteck 44"/>
          <p:cNvSpPr/>
          <p:nvPr/>
        </p:nvSpPr>
        <p:spPr>
          <a:xfrm rot="5400000">
            <a:off x="5415738" y="4850479"/>
            <a:ext cx="1720739" cy="26600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Ellipse 2"/>
          <p:cNvSpPr/>
          <p:nvPr/>
        </p:nvSpPr>
        <p:spPr>
          <a:xfrm>
            <a:off x="3969330" y="5037515"/>
            <a:ext cx="440575" cy="44057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" name="Rechteck 46"/>
          <p:cNvSpPr/>
          <p:nvPr/>
        </p:nvSpPr>
        <p:spPr>
          <a:xfrm>
            <a:off x="6143104" y="4123112"/>
            <a:ext cx="1720739" cy="266007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" name="Rechteck 47"/>
          <p:cNvSpPr/>
          <p:nvPr/>
        </p:nvSpPr>
        <p:spPr>
          <a:xfrm>
            <a:off x="6143104" y="5577841"/>
            <a:ext cx="1720739" cy="266007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Rechteck 48"/>
          <p:cNvSpPr/>
          <p:nvPr/>
        </p:nvSpPr>
        <p:spPr>
          <a:xfrm>
            <a:off x="789705" y="831273"/>
            <a:ext cx="1720739" cy="266007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 49"/>
          <p:cNvSpPr/>
          <p:nvPr/>
        </p:nvSpPr>
        <p:spPr>
          <a:xfrm>
            <a:off x="789705" y="5577840"/>
            <a:ext cx="1720739" cy="266007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Rechteck 50"/>
          <p:cNvSpPr/>
          <p:nvPr/>
        </p:nvSpPr>
        <p:spPr>
          <a:xfrm>
            <a:off x="6143104" y="1295591"/>
            <a:ext cx="544484" cy="26600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Rechteck 52"/>
          <p:cNvSpPr/>
          <p:nvPr/>
        </p:nvSpPr>
        <p:spPr>
          <a:xfrm>
            <a:off x="6143104" y="1664923"/>
            <a:ext cx="544484" cy="26600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" name="Rechteck 53"/>
          <p:cNvSpPr/>
          <p:nvPr/>
        </p:nvSpPr>
        <p:spPr>
          <a:xfrm>
            <a:off x="6143104" y="2033099"/>
            <a:ext cx="544484" cy="2660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Rechteck 54"/>
          <p:cNvSpPr/>
          <p:nvPr/>
        </p:nvSpPr>
        <p:spPr>
          <a:xfrm>
            <a:off x="6143104" y="2401195"/>
            <a:ext cx="544484" cy="2660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Textfeld 55"/>
          <p:cNvSpPr txBox="1"/>
          <p:nvPr/>
        </p:nvSpPr>
        <p:spPr>
          <a:xfrm>
            <a:off x="6687588" y="1243929"/>
            <a:ext cx="43535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ungeeignete Wandelemente (Innenwand = 0)</a:t>
            </a:r>
          </a:p>
        </p:txBody>
      </p:sp>
      <p:sp>
        <p:nvSpPr>
          <p:cNvPr id="57" name="Textfeld 56"/>
          <p:cNvSpPr txBox="1"/>
          <p:nvPr/>
        </p:nvSpPr>
        <p:spPr>
          <a:xfrm>
            <a:off x="6687587" y="1613261"/>
            <a:ext cx="4490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geeignete Wandelemente (keine Innenwand = 1)</a:t>
            </a:r>
          </a:p>
        </p:txBody>
      </p:sp>
      <p:sp>
        <p:nvSpPr>
          <p:cNvPr id="58" name="Textfeld 57"/>
          <p:cNvSpPr txBox="1"/>
          <p:nvPr/>
        </p:nvSpPr>
        <p:spPr>
          <a:xfrm>
            <a:off x="6687588" y="1982593"/>
            <a:ext cx="39984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Tür-Element (nächstgelegenes Wandelement) </a:t>
            </a:r>
          </a:p>
        </p:txBody>
      </p:sp>
      <p:sp>
        <p:nvSpPr>
          <p:cNvPr id="59" name="Textfeld 58"/>
          <p:cNvSpPr txBox="1"/>
          <p:nvPr/>
        </p:nvSpPr>
        <p:spPr>
          <a:xfrm>
            <a:off x="6687588" y="2349613"/>
            <a:ext cx="4259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Hintereingangs-Element</a:t>
            </a:r>
          </a:p>
          <a:p>
            <a:r>
              <a:rPr lang="de-DE" sz="1600" dirty="0"/>
              <a:t>(entferntestes Wandelement zur Wand mit Tür)</a:t>
            </a:r>
          </a:p>
        </p:txBody>
      </p:sp>
      <p:sp>
        <p:nvSpPr>
          <p:cNvPr id="60" name="Ellipse 59"/>
          <p:cNvSpPr/>
          <p:nvPr/>
        </p:nvSpPr>
        <p:spPr>
          <a:xfrm>
            <a:off x="6276107" y="2961855"/>
            <a:ext cx="288868" cy="28886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1" name="Textfeld 60"/>
          <p:cNvSpPr txBox="1"/>
          <p:nvPr/>
        </p:nvSpPr>
        <p:spPr>
          <a:xfrm>
            <a:off x="6687588" y="2934388"/>
            <a:ext cx="39984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Adresspunkt</a:t>
            </a:r>
          </a:p>
        </p:txBody>
      </p:sp>
      <p:cxnSp>
        <p:nvCxnSpPr>
          <p:cNvPr id="8" name="Gerade Verbindung mit Pfeil 7"/>
          <p:cNvCxnSpPr>
            <a:stCxn id="44" idx="3"/>
          </p:cNvCxnSpPr>
          <p:nvPr/>
        </p:nvCxnSpPr>
        <p:spPr>
          <a:xfrm>
            <a:off x="4655127" y="4389122"/>
            <a:ext cx="0" cy="1188718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Gerade Verbindung mit Pfeil 63"/>
          <p:cNvCxnSpPr/>
          <p:nvPr/>
        </p:nvCxnSpPr>
        <p:spPr>
          <a:xfrm>
            <a:off x="5406044" y="4389119"/>
            <a:ext cx="0" cy="1188718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Gerade Verbindung mit Pfeil 64"/>
          <p:cNvCxnSpPr/>
          <p:nvPr/>
        </p:nvCxnSpPr>
        <p:spPr>
          <a:xfrm>
            <a:off x="3516284" y="1097280"/>
            <a:ext cx="0" cy="4480557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Gerade Verbindung mit Pfeil 11"/>
          <p:cNvCxnSpPr/>
          <p:nvPr/>
        </p:nvCxnSpPr>
        <p:spPr>
          <a:xfrm>
            <a:off x="6209605" y="3434994"/>
            <a:ext cx="421871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Textfeld 70"/>
          <p:cNvSpPr txBox="1"/>
          <p:nvPr/>
        </p:nvSpPr>
        <p:spPr>
          <a:xfrm>
            <a:off x="6687588" y="3249092"/>
            <a:ext cx="39984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Abstände zum Tür-Element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C54EA7B-7C00-ACB2-868B-4940CCE38FD7}"/>
              </a:ext>
            </a:extLst>
          </p:cNvPr>
          <p:cNvSpPr txBox="1"/>
          <p:nvPr/>
        </p:nvSpPr>
        <p:spPr>
          <a:xfrm>
            <a:off x="5598620" y="1996825"/>
            <a:ext cx="5444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1(+)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DD149D5-03EF-CDB3-87F8-9DDCD8A2DFDC}"/>
              </a:ext>
            </a:extLst>
          </p:cNvPr>
          <p:cNvSpPr txBox="1"/>
          <p:nvPr/>
        </p:nvSpPr>
        <p:spPr>
          <a:xfrm>
            <a:off x="5732842" y="2364921"/>
            <a:ext cx="4102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-1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1A243C8-CDC9-634B-B6CD-629FEA1443B4}"/>
              </a:ext>
            </a:extLst>
          </p:cNvPr>
          <p:cNvSpPr txBox="1"/>
          <p:nvPr/>
        </p:nvSpPr>
        <p:spPr>
          <a:xfrm>
            <a:off x="5732841" y="1637538"/>
            <a:ext cx="4102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 0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F1B0B0F-3938-B80F-D025-BA16404ACEE0}"/>
              </a:ext>
            </a:extLst>
          </p:cNvPr>
          <p:cNvSpPr txBox="1"/>
          <p:nvPr/>
        </p:nvSpPr>
        <p:spPr>
          <a:xfrm>
            <a:off x="5732841" y="1259317"/>
            <a:ext cx="4102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 0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70905382-5A7F-45F6-F543-86C3FD3ADB02}"/>
              </a:ext>
            </a:extLst>
          </p:cNvPr>
          <p:cNvSpPr txBox="1"/>
          <p:nvPr/>
        </p:nvSpPr>
        <p:spPr>
          <a:xfrm>
            <a:off x="5598620" y="818844"/>
            <a:ext cx="28263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DoorCount</a:t>
            </a:r>
            <a:endParaRPr lang="de-DE" b="1" dirty="0"/>
          </a:p>
        </p:txBody>
      </p:sp>
    </p:spTree>
    <p:extLst>
      <p:ext uri="{BB962C8B-B14F-4D97-AF65-F5344CB8AC3E}">
        <p14:creationId xmlns:p14="http://schemas.microsoft.com/office/powerpoint/2010/main" val="1308263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Gerade Verbindung mit Pfeil 88"/>
          <p:cNvCxnSpPr/>
          <p:nvPr/>
        </p:nvCxnSpPr>
        <p:spPr>
          <a:xfrm flipH="1">
            <a:off x="1044638" y="716728"/>
            <a:ext cx="7536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Gerade Verbindung mit Pfeil 89"/>
          <p:cNvCxnSpPr/>
          <p:nvPr/>
        </p:nvCxnSpPr>
        <p:spPr>
          <a:xfrm>
            <a:off x="4125884" y="1101884"/>
            <a:ext cx="7703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Gerade Verbindung mit Pfeil 90"/>
          <p:cNvCxnSpPr/>
          <p:nvPr/>
        </p:nvCxnSpPr>
        <p:spPr>
          <a:xfrm>
            <a:off x="3036917" y="1101884"/>
            <a:ext cx="7619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Gerade Verbindung mit Pfeil 91"/>
          <p:cNvCxnSpPr/>
          <p:nvPr/>
        </p:nvCxnSpPr>
        <p:spPr>
          <a:xfrm>
            <a:off x="1928553" y="1101884"/>
            <a:ext cx="7730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Gerade Verbindung mit Pfeil 92"/>
          <p:cNvCxnSpPr/>
          <p:nvPr/>
        </p:nvCxnSpPr>
        <p:spPr>
          <a:xfrm flipH="1">
            <a:off x="2141918" y="716728"/>
            <a:ext cx="7536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Gerade Verbindung mit Pfeil 93"/>
          <p:cNvCxnSpPr/>
          <p:nvPr/>
        </p:nvCxnSpPr>
        <p:spPr>
          <a:xfrm flipH="1">
            <a:off x="3239196" y="727813"/>
            <a:ext cx="7536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hteck 23"/>
          <p:cNvSpPr/>
          <p:nvPr/>
        </p:nvSpPr>
        <p:spPr>
          <a:xfrm>
            <a:off x="773084" y="430138"/>
            <a:ext cx="1097280" cy="10014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/>
          <p:cNvSpPr/>
          <p:nvPr/>
        </p:nvSpPr>
        <p:spPr>
          <a:xfrm>
            <a:off x="1870364" y="430137"/>
            <a:ext cx="1097280" cy="10014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 25"/>
          <p:cNvSpPr/>
          <p:nvPr/>
        </p:nvSpPr>
        <p:spPr>
          <a:xfrm>
            <a:off x="2967644" y="430137"/>
            <a:ext cx="1097280" cy="10014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 26"/>
          <p:cNvSpPr/>
          <p:nvPr/>
        </p:nvSpPr>
        <p:spPr>
          <a:xfrm>
            <a:off x="4064924" y="430137"/>
            <a:ext cx="1097280" cy="10014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9" name="Gerader Verbinder 28"/>
          <p:cNvCxnSpPr/>
          <p:nvPr/>
        </p:nvCxnSpPr>
        <p:spPr>
          <a:xfrm>
            <a:off x="1928553" y="446649"/>
            <a:ext cx="0" cy="963333"/>
          </a:xfrm>
          <a:prstGeom prst="line">
            <a:avLst/>
          </a:prstGeom>
          <a:ln w="762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Gerader Verbinder 30"/>
          <p:cNvCxnSpPr/>
          <p:nvPr/>
        </p:nvCxnSpPr>
        <p:spPr>
          <a:xfrm>
            <a:off x="1798321" y="446649"/>
            <a:ext cx="0" cy="963333"/>
          </a:xfrm>
          <a:prstGeom prst="line">
            <a:avLst/>
          </a:prstGeom>
          <a:ln w="762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Gerader Verbinder 31"/>
          <p:cNvCxnSpPr/>
          <p:nvPr/>
        </p:nvCxnSpPr>
        <p:spPr>
          <a:xfrm>
            <a:off x="2895601" y="446649"/>
            <a:ext cx="0" cy="963333"/>
          </a:xfrm>
          <a:prstGeom prst="line">
            <a:avLst/>
          </a:prstGeom>
          <a:ln w="762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Gerader Verbinder 32"/>
          <p:cNvCxnSpPr/>
          <p:nvPr/>
        </p:nvCxnSpPr>
        <p:spPr>
          <a:xfrm>
            <a:off x="3992880" y="446649"/>
            <a:ext cx="0" cy="963333"/>
          </a:xfrm>
          <a:prstGeom prst="line">
            <a:avLst/>
          </a:prstGeom>
          <a:ln w="762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Gerader Verbinder 33"/>
          <p:cNvCxnSpPr/>
          <p:nvPr/>
        </p:nvCxnSpPr>
        <p:spPr>
          <a:xfrm>
            <a:off x="4125884" y="446649"/>
            <a:ext cx="0" cy="963333"/>
          </a:xfrm>
          <a:prstGeom prst="line">
            <a:avLst/>
          </a:prstGeom>
          <a:ln w="762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Gerader Verbinder 34"/>
          <p:cNvCxnSpPr/>
          <p:nvPr/>
        </p:nvCxnSpPr>
        <p:spPr>
          <a:xfrm>
            <a:off x="3036917" y="446649"/>
            <a:ext cx="0" cy="963333"/>
          </a:xfrm>
          <a:prstGeom prst="line">
            <a:avLst/>
          </a:prstGeom>
          <a:ln w="762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6" name="Rechteck 35"/>
          <p:cNvSpPr/>
          <p:nvPr/>
        </p:nvSpPr>
        <p:spPr>
          <a:xfrm>
            <a:off x="773084" y="1729299"/>
            <a:ext cx="1097280" cy="10014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Rechteck 36"/>
          <p:cNvSpPr/>
          <p:nvPr/>
        </p:nvSpPr>
        <p:spPr>
          <a:xfrm>
            <a:off x="1870364" y="1729298"/>
            <a:ext cx="1097280" cy="10014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/>
          <p:cNvSpPr/>
          <p:nvPr/>
        </p:nvSpPr>
        <p:spPr>
          <a:xfrm>
            <a:off x="2967644" y="1729298"/>
            <a:ext cx="1097280" cy="10014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Rechteck 38"/>
          <p:cNvSpPr/>
          <p:nvPr/>
        </p:nvSpPr>
        <p:spPr>
          <a:xfrm>
            <a:off x="4064924" y="1729298"/>
            <a:ext cx="1097280" cy="10014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0" name="Gerader Verbinder 39"/>
          <p:cNvCxnSpPr/>
          <p:nvPr/>
        </p:nvCxnSpPr>
        <p:spPr>
          <a:xfrm>
            <a:off x="1928553" y="1745810"/>
            <a:ext cx="0" cy="963333"/>
          </a:xfrm>
          <a:prstGeom prst="line">
            <a:avLst/>
          </a:prstGeom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Gerader Verbinder 40"/>
          <p:cNvCxnSpPr/>
          <p:nvPr/>
        </p:nvCxnSpPr>
        <p:spPr>
          <a:xfrm>
            <a:off x="858983" y="1745810"/>
            <a:ext cx="0" cy="963333"/>
          </a:xfrm>
          <a:prstGeom prst="line">
            <a:avLst/>
          </a:prstGeom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" name="Gerader Verbinder 41"/>
          <p:cNvCxnSpPr/>
          <p:nvPr/>
        </p:nvCxnSpPr>
        <p:spPr>
          <a:xfrm>
            <a:off x="2895601" y="1745810"/>
            <a:ext cx="0" cy="963333"/>
          </a:xfrm>
          <a:prstGeom prst="line">
            <a:avLst/>
          </a:prstGeom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3" name="Gerader Verbinder 42"/>
          <p:cNvCxnSpPr/>
          <p:nvPr/>
        </p:nvCxnSpPr>
        <p:spPr>
          <a:xfrm>
            <a:off x="3992880" y="1745810"/>
            <a:ext cx="0" cy="963333"/>
          </a:xfrm>
          <a:prstGeom prst="line">
            <a:avLst/>
          </a:prstGeom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4" name="Gerader Verbinder 43"/>
          <p:cNvCxnSpPr/>
          <p:nvPr/>
        </p:nvCxnSpPr>
        <p:spPr>
          <a:xfrm>
            <a:off x="5065222" y="1745810"/>
            <a:ext cx="0" cy="963333"/>
          </a:xfrm>
          <a:prstGeom prst="line">
            <a:avLst/>
          </a:prstGeom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5" name="Gerader Verbinder 44"/>
          <p:cNvCxnSpPr/>
          <p:nvPr/>
        </p:nvCxnSpPr>
        <p:spPr>
          <a:xfrm>
            <a:off x="3036917" y="1745810"/>
            <a:ext cx="0" cy="963333"/>
          </a:xfrm>
          <a:prstGeom prst="line">
            <a:avLst/>
          </a:prstGeom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6" name="Gerader Verbinder 65"/>
          <p:cNvCxnSpPr/>
          <p:nvPr/>
        </p:nvCxnSpPr>
        <p:spPr>
          <a:xfrm>
            <a:off x="980369" y="5123333"/>
            <a:ext cx="387926" cy="0"/>
          </a:xfrm>
          <a:prstGeom prst="line">
            <a:avLst/>
          </a:prstGeom>
          <a:ln w="762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9" name="Gerader Verbinder 68"/>
          <p:cNvCxnSpPr/>
          <p:nvPr/>
        </p:nvCxnSpPr>
        <p:spPr>
          <a:xfrm>
            <a:off x="980371" y="5468432"/>
            <a:ext cx="387926" cy="0"/>
          </a:xfrm>
          <a:prstGeom prst="line">
            <a:avLst/>
          </a:prstGeom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0" name="Gerader Verbinder 69"/>
          <p:cNvCxnSpPr/>
          <p:nvPr/>
        </p:nvCxnSpPr>
        <p:spPr>
          <a:xfrm>
            <a:off x="980371" y="5765422"/>
            <a:ext cx="387926" cy="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1" name="Textfeld 70"/>
          <p:cNvSpPr txBox="1"/>
          <p:nvPr/>
        </p:nvSpPr>
        <p:spPr>
          <a:xfrm>
            <a:off x="1499913" y="4937430"/>
            <a:ext cx="29676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Innenwände</a:t>
            </a:r>
          </a:p>
        </p:txBody>
      </p:sp>
      <p:sp>
        <p:nvSpPr>
          <p:cNvPr id="72" name="Textfeld 71"/>
          <p:cNvSpPr txBox="1"/>
          <p:nvPr/>
        </p:nvSpPr>
        <p:spPr>
          <a:xfrm>
            <a:off x="1499913" y="5274217"/>
            <a:ext cx="80052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am weitesten entfernten Wände zu allen Innenwänden (unabhängig vom Innenwandcode 0/1)</a:t>
            </a:r>
          </a:p>
        </p:txBody>
      </p:sp>
      <p:sp>
        <p:nvSpPr>
          <p:cNvPr id="73" name="Textfeld 72"/>
          <p:cNvSpPr txBox="1"/>
          <p:nvPr/>
        </p:nvSpPr>
        <p:spPr>
          <a:xfrm>
            <a:off x="1499915" y="5612771"/>
            <a:ext cx="39984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Stirnseiten mit IW = 1 (&gt; neu: IW = 2)</a:t>
            </a:r>
          </a:p>
        </p:txBody>
      </p:sp>
      <p:cxnSp>
        <p:nvCxnSpPr>
          <p:cNvPr id="78" name="Gerade Verbindung mit Pfeil 77"/>
          <p:cNvCxnSpPr/>
          <p:nvPr/>
        </p:nvCxnSpPr>
        <p:spPr>
          <a:xfrm flipH="1">
            <a:off x="1044637" y="2002034"/>
            <a:ext cx="8257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Gerade Verbindung mit Pfeil 80"/>
          <p:cNvCxnSpPr/>
          <p:nvPr/>
        </p:nvCxnSpPr>
        <p:spPr>
          <a:xfrm>
            <a:off x="4064924" y="2387190"/>
            <a:ext cx="8312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Gerade Verbindung mit Pfeil 82"/>
          <p:cNvCxnSpPr/>
          <p:nvPr/>
        </p:nvCxnSpPr>
        <p:spPr>
          <a:xfrm>
            <a:off x="2967644" y="2387190"/>
            <a:ext cx="8312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Gerade Verbindung mit Pfeil 83"/>
          <p:cNvCxnSpPr/>
          <p:nvPr/>
        </p:nvCxnSpPr>
        <p:spPr>
          <a:xfrm>
            <a:off x="1870364" y="2387190"/>
            <a:ext cx="8312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Gerade Verbindung mit Pfeil 84"/>
          <p:cNvCxnSpPr/>
          <p:nvPr/>
        </p:nvCxnSpPr>
        <p:spPr>
          <a:xfrm flipH="1">
            <a:off x="2141917" y="2002034"/>
            <a:ext cx="8257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Gerade Verbindung mit Pfeil 85"/>
          <p:cNvCxnSpPr/>
          <p:nvPr/>
        </p:nvCxnSpPr>
        <p:spPr>
          <a:xfrm flipH="1">
            <a:off x="3239197" y="2013119"/>
            <a:ext cx="8257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Gerade Verbindung mit Pfeil 101"/>
          <p:cNvCxnSpPr/>
          <p:nvPr/>
        </p:nvCxnSpPr>
        <p:spPr>
          <a:xfrm>
            <a:off x="980371" y="6112783"/>
            <a:ext cx="387924" cy="74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Textfeld 102"/>
          <p:cNvSpPr txBox="1"/>
          <p:nvPr/>
        </p:nvSpPr>
        <p:spPr>
          <a:xfrm>
            <a:off x="1499914" y="5949558"/>
            <a:ext cx="23012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Nachbarschaftssuche</a:t>
            </a:r>
          </a:p>
        </p:txBody>
      </p:sp>
      <p:sp>
        <p:nvSpPr>
          <p:cNvPr id="107" name="Rechteck 106"/>
          <p:cNvSpPr/>
          <p:nvPr/>
        </p:nvSpPr>
        <p:spPr>
          <a:xfrm>
            <a:off x="773084" y="3028459"/>
            <a:ext cx="1097280" cy="10014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8" name="Rechteck 107"/>
          <p:cNvSpPr/>
          <p:nvPr/>
        </p:nvSpPr>
        <p:spPr>
          <a:xfrm>
            <a:off x="1870364" y="3028458"/>
            <a:ext cx="1097280" cy="10014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9" name="Rechteck 108"/>
          <p:cNvSpPr/>
          <p:nvPr/>
        </p:nvSpPr>
        <p:spPr>
          <a:xfrm>
            <a:off x="2967644" y="3028458"/>
            <a:ext cx="1097280" cy="10014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0" name="Rechteck 109"/>
          <p:cNvSpPr/>
          <p:nvPr/>
        </p:nvSpPr>
        <p:spPr>
          <a:xfrm>
            <a:off x="4064924" y="3028458"/>
            <a:ext cx="1097280" cy="10014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2" name="Gerader Verbinder 111"/>
          <p:cNvCxnSpPr/>
          <p:nvPr/>
        </p:nvCxnSpPr>
        <p:spPr>
          <a:xfrm>
            <a:off x="858983" y="3044970"/>
            <a:ext cx="0" cy="963333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5" name="Gerader Verbinder 114"/>
          <p:cNvCxnSpPr/>
          <p:nvPr/>
        </p:nvCxnSpPr>
        <p:spPr>
          <a:xfrm>
            <a:off x="5065222" y="3044970"/>
            <a:ext cx="0" cy="963333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20CB6037-28B4-45A5-12F1-36EC1E22AEB6}"/>
              </a:ext>
            </a:extLst>
          </p:cNvPr>
          <p:cNvSpPr txBox="1"/>
          <p:nvPr/>
        </p:nvSpPr>
        <p:spPr>
          <a:xfrm>
            <a:off x="441747" y="5580226"/>
            <a:ext cx="491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2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FD0BE7B-20CF-1F20-E55B-ED2A09A8B0C7}"/>
              </a:ext>
            </a:extLst>
          </p:cNvPr>
          <p:cNvSpPr txBox="1"/>
          <p:nvPr/>
        </p:nvSpPr>
        <p:spPr>
          <a:xfrm>
            <a:off x="441747" y="4925590"/>
            <a:ext cx="491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/>
              <a:t>0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85632A6-8A48-7B15-35B1-7959506DDFBA}"/>
              </a:ext>
            </a:extLst>
          </p:cNvPr>
          <p:cNvSpPr txBox="1"/>
          <p:nvPr/>
        </p:nvSpPr>
        <p:spPr>
          <a:xfrm>
            <a:off x="441747" y="4402698"/>
            <a:ext cx="42260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Innenwand und Stirnseiten</a:t>
            </a:r>
            <a:endParaRPr lang="de-DE" b="1" dirty="0"/>
          </a:p>
        </p:txBody>
      </p:sp>
    </p:spTree>
    <p:extLst>
      <p:ext uri="{BB962C8B-B14F-4D97-AF65-F5344CB8AC3E}">
        <p14:creationId xmlns:p14="http://schemas.microsoft.com/office/powerpoint/2010/main" val="3591182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</Words>
  <Application>Microsoft Office PowerPoint</Application>
  <PresentationFormat>Breitbild</PresentationFormat>
  <Paragraphs>85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LHD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Pankotsch, Jan</dc:creator>
  <cp:lastModifiedBy>Pankotsch, Jan</cp:lastModifiedBy>
  <cp:revision>182</cp:revision>
  <dcterms:created xsi:type="dcterms:W3CDTF">2024-07-23T13:06:09Z</dcterms:created>
  <dcterms:modified xsi:type="dcterms:W3CDTF">2025-10-16T10:25:10Z</dcterms:modified>
</cp:coreProperties>
</file>